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</p:sldIdLst>
  <p:sldSz cx="9144000" cy="5143500" type="screen16x9"/>
  <p:notesSz cx="6858000" cy="9144000"/>
  <p:embeddedFontLst>
    <p:embeddedFont>
      <p:font typeface="Economica" panose="020B060402020202020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0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84165" y="915428"/>
            <a:ext cx="4010336" cy="14340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Ігрове програмне забезпечення в жанрі </a:t>
            </a:r>
            <a:r>
              <a:rPr lang="en-US" sz="2400" dirty="0"/>
              <a:t>Roguelike </a:t>
            </a:r>
            <a:r>
              <a:rPr lang="uk-UA" sz="2400" dirty="0"/>
              <a:t>на рушії </a:t>
            </a:r>
            <a:r>
              <a:rPr lang="en-US" sz="2400" dirty="0"/>
              <a:t>Unity. </a:t>
            </a:r>
            <a:r>
              <a:rPr lang="uk-UA" sz="2400" dirty="0"/>
              <a:t>Розробка та оптимізація </a:t>
            </a:r>
            <a:r>
              <a:rPr lang="en-US" sz="2400" dirty="0"/>
              <a:t>VFX</a:t>
            </a:r>
            <a:endParaRPr lang="uk-UA"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028300" y="361080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08 червня 202</a:t>
            </a:r>
            <a:r>
              <a:rPr lang="en-US" dirty="0"/>
              <a:t>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2;p13">
            <a:extLst>
              <a:ext uri="{FF2B5EF4-FFF2-40B4-BE49-F238E27FC236}">
                <a16:creationId xmlns:a16="http://schemas.microsoft.com/office/drawing/2014/main" id="{26CCB50E-9707-4B7C-B80E-54C68D009AF3}"/>
              </a:ext>
            </a:extLst>
          </p:cNvPr>
          <p:cNvSpPr txBox="1">
            <a:spLocks/>
          </p:cNvSpPr>
          <p:nvPr/>
        </p:nvSpPr>
        <p:spPr>
          <a:xfrm>
            <a:off x="2876884" y="2172349"/>
            <a:ext cx="3390232" cy="253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dirty="0" err="1">
                <a:ea typeface="Ebrima" panose="02000000000000000000" pitchFamily="2" charset="0"/>
                <a:cs typeface="Ebrima" panose="02000000000000000000" pitchFamily="2" charset="0"/>
              </a:rPr>
              <a:t>Лебеденко</a:t>
            </a:r>
            <a:r>
              <a:rPr lang="uk-UA" sz="1800" dirty="0">
                <a:ea typeface="Ebrima" panose="02000000000000000000" pitchFamily="2" charset="0"/>
                <a:cs typeface="Ebrima" panose="02000000000000000000" pitchFamily="2" charset="0"/>
              </a:rPr>
              <a:t> Ксенія Андріївна, ПЗПІ-23-9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 dirty="0">
                <a:ea typeface="Ebrima" panose="02000000000000000000" pitchFamily="2" charset="0"/>
                <a:cs typeface="Ebrima" panose="02000000000000000000" pitchFamily="2" charset="0"/>
              </a:rPr>
              <a:t>Керівник: ст. </a:t>
            </a:r>
            <a:r>
              <a:rPr lang="uk-UA" sz="1800" dirty="0" err="1">
                <a:ea typeface="Ebrima" panose="02000000000000000000" pitchFamily="2" charset="0"/>
                <a:cs typeface="Ebrima" panose="02000000000000000000" pitchFamily="2" charset="0"/>
              </a:rPr>
              <a:t>викл</a:t>
            </a:r>
            <a:r>
              <a:rPr lang="uk-UA" sz="1800" dirty="0">
                <a:ea typeface="Ebrima" panose="02000000000000000000" pitchFamily="2" charset="0"/>
                <a:cs typeface="Ebrima" panose="02000000000000000000" pitchFamily="2" charset="0"/>
              </a:rPr>
              <a:t>. Кафедри ПІ Юрій НОВІКОВ </a:t>
            </a:r>
          </a:p>
          <a:p>
            <a:pPr algn="l"/>
            <a:r>
              <a:rPr lang="uk-UA" sz="24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99666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455047" y="713766"/>
            <a:ext cx="8233906" cy="3422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/>
              <a:t>Тема курсового </a:t>
            </a:r>
            <a:r>
              <a:rPr lang="uk-UA" dirty="0" err="1"/>
              <a:t>проєкту</a:t>
            </a:r>
            <a:r>
              <a:rPr lang="uk-UA" dirty="0"/>
              <a:t> присвячена розробці та оптимізації підсистеми візуальних ефектів для магічної бойової системи тривимірної гри. Актуальність роботи обумовлена високими вимогами до продуктивності ігрових застосунків при відображенні великої кількості графічних елементів. 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-UA" dirty="0"/>
              <a:t>Метою роботи є створення оптимізованого графічного інструментарію, який дозволяє гравцеві конструювати та візуалізувати складні заклинання у реальному часі. Очікуваним результатом є стабільна та масштабована візуальна підсистема, інтегрована в ігровий рушій.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40739" y="501455"/>
            <a:ext cx="4397189" cy="3940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Під час підготовки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проєкту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було проаналізовано такі популярні ігри-аналоги, як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Wizard of Legend, Hades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та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Nine Parchments. 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Основними прогалинами існуючих ігрових рішень є жорстка прив'язка заклинань до шаблонів та відсутність динамічного поєднання графічних форм. Також у аналогах спостерігається значне просідання продуктивності графічного процесора при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рендерингу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великих скупчень напівпрозорих частинок.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951797-9C0B-468D-B03D-E1FAC748444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346" y="450477"/>
            <a:ext cx="3713536" cy="194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9BF592-339A-411D-910A-FEC6FC04154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720" y="2531074"/>
            <a:ext cx="3482787" cy="18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897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30306" y="948686"/>
            <a:ext cx="7853083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Система повинна підтримувати чотири базові магічні форми (сфера, промінь, снаряд та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спрей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) та забезпечувати їх безперешкодне поєднання в довільні ланцюги. 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Критичною вимогою є забезпечення стабільної кадрової частоти не менше шістдесяти кадрів за секунду під час інтенсивних боїв. Також необхідно реалізувати відображення поточної черги магічних рун на ігровому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HUD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зручного зворотного зв'язку з гравцем.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439447" y="28199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699246" y="1364875"/>
            <a:ext cx="7398035" cy="28333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реалізації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проєкту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було обрано ігровий рушій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Unity3D,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який надає гнучкі інструменти роботи з графікою. 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Як мову програмування використано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C#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написання логіки взаємодії компонентів та менеджменту пам'яті.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Рендеринг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візуальних ефектів реалізовано за допомогою конвеєра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рендерингу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Universal Render Pipeline.</a:t>
            </a: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99666" y="202250"/>
            <a:ext cx="8520600" cy="7422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</a:t>
            </a:r>
            <a:r>
              <a:rPr lang="uk-UA" sz="3200" dirty="0"/>
              <a:t>ї</a:t>
            </a:r>
            <a:r>
              <a:rPr lang="uk" sz="3200" dirty="0"/>
              <a:t> підсистеми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497541" y="933244"/>
            <a:ext cx="8030695" cy="3277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Архітектура підсистеми побудована на базі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компонентно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-орієнтованого підходу для забезпечення слабкої зв'язності модулів.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Ключовим архітектурним елементом є абстрактний клас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Shape,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що реалізує інтерфейс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IModifiable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всіх магічних форм. </a:t>
            </a: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Для керування життєвим циклом об'єктів та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кешування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префабів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створено менеджер пулу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PoolManager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. 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Геометричні розрахунки точок генерації частинок винесено у статичний клас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SpawnDistribution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687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430305" y="1143700"/>
            <a:ext cx="8128747" cy="36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Розробка підсистеми магічних ефектів велася з чітким розділенням відповідальності між окремими програмними модулями. Модуль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AMagic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відповідає за логіку магічних форм та конфігурацію параметрів їх просторового розподілу. Модуль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World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забезпечує взаємодію з фізичним оточенням через сенсори колізій та розрахунок зносу. Модуль </a:t>
            </a:r>
            <a:r>
              <a:rPr lang="en-US" dirty="0" err="1">
                <a:solidFill>
                  <a:srgbClr val="0D0D0D"/>
                </a:solidFill>
                <a:highlight>
                  <a:srgbClr val="FFFFFF"/>
                </a:highlight>
              </a:rPr>
              <a:t>GameSystem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надає глобальну інфраструктуру для запуску асинхронних </a:t>
            </a: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корутин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 та управління кешем об'єктів.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413097" y="121501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533576" y="1170124"/>
            <a:ext cx="7709471" cy="3436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Внутрішній дизайн системи реалізує алгоритми просторового розподілу частинок у реальному часі. Для рівномірного покриття сферичних зон вибуху використано математичний розподіл по спіралі Фібоначчі. Віялоподібне розпилення </a:t>
            </a:r>
            <a:r>
              <a:rPr lang="uk-UA" dirty="0" err="1"/>
              <a:t>спрею</a:t>
            </a:r>
            <a:r>
              <a:rPr lang="uk-UA" dirty="0"/>
              <a:t> реалізовано за допомогою дугового розподілу з можливістю каскадної затримки створення ефектів. Маршрутизація логіки комбінування та активації наступних ефектів у ланцюгу виконується за допомогою </a:t>
            </a:r>
            <a:r>
              <a:rPr lang="uk-UA" dirty="0" err="1"/>
              <a:t>паттерну</a:t>
            </a:r>
            <a:r>
              <a:rPr lang="uk-UA" dirty="0"/>
              <a:t> </a:t>
            </a:r>
            <a:r>
              <a:rPr lang="en-US" dirty="0"/>
              <a:t>Double Dispatch.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5764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22729" y="753057"/>
            <a:ext cx="8290128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Для реалізації логіки комбінування магічних форм без використання важкої рефлексії було створено статичний словник </a:t>
            </a:r>
            <a:r>
              <a:rPr lang="en-US" dirty="0" err="1"/>
              <a:t>ShapeTypeIModifiable</a:t>
            </a:r>
            <a:r>
              <a:rPr lang="en-US" dirty="0"/>
              <a:t>, </a:t>
            </a:r>
            <a:r>
              <a:rPr lang="uk-UA" dirty="0"/>
              <a:t>який зіставляє тип форми з анонімним методом виклику відповідної модифікації </a:t>
            </a:r>
            <a:r>
              <a:rPr lang="uk-UA" dirty="0" err="1"/>
              <a:t>інте</a:t>
            </a:r>
            <a:r>
              <a:rPr lang="en-US" dirty="0"/>
              <a:t>rf</a:t>
            </a:r>
            <a:r>
              <a:rPr lang="uk-UA" dirty="0" err="1"/>
              <a:t>ейсу</a:t>
            </a:r>
            <a:r>
              <a:rPr lang="uk-UA" dirty="0"/>
              <a:t> </a:t>
            </a:r>
            <a:r>
              <a:rPr lang="en-US" dirty="0" err="1"/>
              <a:t>IModifiable</a:t>
            </a:r>
            <a:r>
              <a:rPr lang="en-US" dirty="0"/>
              <a:t>. </a:t>
            </a:r>
            <a:r>
              <a:rPr lang="uk-UA" dirty="0"/>
              <a:t>Метод </a:t>
            </a:r>
            <a:r>
              <a:rPr lang="en-US" dirty="0" err="1"/>
              <a:t>ShapeLogic</a:t>
            </a:r>
            <a:r>
              <a:rPr lang="en-US" dirty="0"/>
              <a:t> </a:t>
            </a:r>
            <a:r>
              <a:rPr lang="uk-UA" dirty="0"/>
              <a:t>перевіряє наявність наступного елемента в ланцюгу та викликає потрібний метод або запускає базову логіку ефекту. 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8ECCB2-0922-4F26-9C5F-4F32582A03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17"/>
          <a:stretch/>
        </p:blipFill>
        <p:spPr>
          <a:xfrm>
            <a:off x="4127262" y="2843905"/>
            <a:ext cx="4485595" cy="1916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C62F2E-4533-47BD-AFCE-312034592867}"/>
              </a:ext>
            </a:extLst>
          </p:cNvPr>
          <p:cNvSpPr txBox="1"/>
          <p:nvPr/>
        </p:nvSpPr>
        <p:spPr>
          <a:xfrm>
            <a:off x="322729" y="2692769"/>
            <a:ext cx="34356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 забезпечує константну швидкість роботи підсистеми на центральному процесорі та легке додавання нових видів магії.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93B501-51FE-4744-AEAA-7477D61FB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70" y="138385"/>
            <a:ext cx="3221842" cy="45119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DD6BF5-D845-48B7-90F5-B19F74F84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08" y="792112"/>
            <a:ext cx="5272487" cy="342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89965" y="847685"/>
            <a:ext cx="844233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У результаті виконання </a:t>
            </a:r>
            <a:r>
              <a:rPr lang="uk-UA" dirty="0" err="1"/>
              <a:t>проєкту</a:t>
            </a:r>
            <a:r>
              <a:rPr lang="uk-UA" dirty="0"/>
              <a:t> було створено працездатну, оптимізовану та гнучку підсистему візуальних ефектів для магічної бойової системи. Розроблені рішення забезпечують стабільну кадрову частоту та якісний візуальний фідбек для гравця. Корисність отриманих результатів полягає у можливості легкого розширення системи новими типами заклинань. Перспективами розвитку </a:t>
            </a:r>
            <a:r>
              <a:rPr lang="uk-UA" dirty="0" err="1"/>
              <a:t>проєкту</a:t>
            </a:r>
            <a:r>
              <a:rPr lang="uk-UA" dirty="0"/>
              <a:t> є додавання нових магічних форм, розробка гнучких сіток інтерфейсу для </a:t>
            </a:r>
            <a:r>
              <a:rPr lang="uk-UA" dirty="0" err="1"/>
              <a:t>портування</a:t>
            </a:r>
            <a:r>
              <a:rPr lang="uk-UA" dirty="0"/>
              <a:t> гри на мобільні пристрої, а також створення власної спрощеної системи розрахунку колізій частинок.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Шаблон_презентації_до_ККП_бакалавра_2025_2</Template>
  <TotalTime>2481</TotalTime>
  <Words>608</Words>
  <Application>Microsoft Office PowerPoint</Application>
  <PresentationFormat>Екран (16:9)</PresentationFormat>
  <Paragraphs>46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Open Sans</vt:lpstr>
      <vt:lpstr>Economica</vt:lpstr>
      <vt:lpstr>Arial</vt:lpstr>
      <vt:lpstr>Шаблон презентації кваліфікаційної роботи магістрів</vt:lpstr>
      <vt:lpstr>Ігрове програмне забезпечення в жанрі Roguelike на рушії Unity. Розробка та оптимізація VFX</vt:lpstr>
      <vt:lpstr>Мета роботи</vt:lpstr>
      <vt:lpstr>Аналіз проблеми  </vt:lpstr>
      <vt:lpstr>Постановка задачі та опис системи</vt:lpstr>
      <vt:lpstr>Вибір технологій розробки </vt:lpstr>
      <vt:lpstr>Архітектура створенної підсистеми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Публікація результатів 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Kseniia Lebedenko</dc:creator>
  <cp:lastModifiedBy>Kseniia Lebedenko</cp:lastModifiedBy>
  <cp:revision>13</cp:revision>
  <dcterms:created xsi:type="dcterms:W3CDTF">2026-05-25T17:30:43Z</dcterms:created>
  <dcterms:modified xsi:type="dcterms:W3CDTF">2026-05-29T17:34:29Z</dcterms:modified>
</cp:coreProperties>
</file>