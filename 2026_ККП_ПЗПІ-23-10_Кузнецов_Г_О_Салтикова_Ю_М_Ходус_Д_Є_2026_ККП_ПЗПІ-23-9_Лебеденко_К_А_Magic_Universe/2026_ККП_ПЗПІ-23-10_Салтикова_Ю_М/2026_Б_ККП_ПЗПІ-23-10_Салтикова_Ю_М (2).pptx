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67" r:id="rId13"/>
  </p:sldIdLst>
  <p:sldSz cx="9144000" cy="5143500" type="screen16x9"/>
  <p:notesSz cx="6858000" cy="9144000"/>
  <p:embeddedFontLst>
    <p:embeddedFont>
      <p:font typeface="Economica" panose="020B0604020202020204" charset="0"/>
      <p:regular r:id="rId15"/>
      <p:bold r:id="rId16"/>
      <p:italic r:id="rId17"/>
      <p:boldItalic r:id="rId18"/>
    </p:embeddedFont>
    <p:embeddedFont>
      <p:font typeface="Open Sans" panose="020B0606030504020204" pitchFamily="3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Помірний стиль 2 –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902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1013748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0ddf966691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0ddf966691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e16b2adad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e16b2adad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e16b2adad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e16b2adad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e16b2adad1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e16b2adad1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e16b2adad1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e16b2adad1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e16b2adad1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e16b2adad1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e16b2adad1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e16b2adad1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e16b2adad1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e16b2adad1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e16b2adad1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e16b2adad1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7" name="Google Shape;17;p3"/>
          <p:cNvSpPr/>
          <p:nvPr/>
        </p:nvSpPr>
        <p:spPr>
          <a:xfrm rot="10800000" flipH="1">
            <a:off x="466425" y="35583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Пустий слайд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2805449" y="821299"/>
            <a:ext cx="3729165" cy="159479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l"/>
            <a:r>
              <a:rPr lang="u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Ігрове програмне забезпечення в жанрі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Roguelike</a:t>
            </a:r>
            <a:r>
              <a:rPr lang="uk-U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рушії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Unity</a:t>
            </a:r>
            <a:br>
              <a:rPr lang="en-US" dirty="0"/>
            </a:br>
            <a:endParaRPr sz="2400" dirty="0"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1948250" y="3490159"/>
            <a:ext cx="5087400" cy="15947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47500" lnSpcReduction="20000"/>
          </a:bodyPr>
          <a:lstStyle/>
          <a:p>
            <a:pPr marL="0" lvl="0" indent="0" algn="just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Салтикова</a:t>
            </a:r>
            <a:r>
              <a:rPr lang="uk-UA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Юлія Михайлівна, ПЗПІ-23-10</a:t>
            </a:r>
            <a:endParaRPr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70000"/>
              </a:lnSpc>
            </a:pPr>
            <a:r>
              <a:rPr lang="uk" sz="3400" dirty="0"/>
              <a:t>Керівник:</a:t>
            </a:r>
            <a:r>
              <a:rPr lang="en-US" sz="3400" dirty="0"/>
              <a:t> </a:t>
            </a:r>
            <a:r>
              <a:rPr lang="uk-UA" sz="3400" dirty="0" err="1"/>
              <a:t>ст.викл</a:t>
            </a:r>
            <a:r>
              <a:rPr lang="uk-UA" sz="3400" dirty="0"/>
              <a:t>. кафедри ПІ Юрій НОВІКОВ </a:t>
            </a:r>
            <a:endParaRPr lang="en-US" sz="3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uk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червня 2025</a:t>
            </a:r>
            <a:endParaRPr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4" name="Google Shape;6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725" y="170825"/>
            <a:ext cx="2133975" cy="38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68504" y="170825"/>
            <a:ext cx="1924921" cy="43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Мета роботи</a:t>
            </a:r>
            <a:endParaRPr sz="3200" dirty="0"/>
          </a:p>
        </p:txBody>
      </p:sp>
      <p:sp>
        <p:nvSpPr>
          <p:cNvPr id="72" name="Google Shape;72;p14"/>
          <p:cNvSpPr txBox="1">
            <a:spLocks noGrp="1"/>
          </p:cNvSpPr>
          <p:nvPr>
            <p:ph type="body" idx="1"/>
          </p:nvPr>
        </p:nvSpPr>
        <p:spPr>
          <a:xfrm>
            <a:off x="311700" y="831300"/>
            <a:ext cx="8520600" cy="37479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Мета курсового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проєкту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проєктування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тривимірне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моделювання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технічна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оптимізація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візуальної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підсистеми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ігрового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програмного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забезпечення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жанрі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Roguelike/RPG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рушії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Unity,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що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полягає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створенні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цілісної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модульної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низькополігональної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архітектури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налаштуванні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стилізованого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освітлення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й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матеріалів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Популяризація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інді-ігор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жанрі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Roguelike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 процедурною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генерацією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вимагає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створення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якісного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оптимізованого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тривимірного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контенту.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Розробка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цілісного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візуального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стилю через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Low-poly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моделювання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ігрових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об'єктів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включаючи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архітектурні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блоки замку) та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налаштування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локального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освітлення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Unity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дозволяє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досягти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високої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художньої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виразності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гри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й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водночас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гарантує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її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стабільну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продуктивність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93E68CA-DEF7-D32D-BFB6-7B402335F4C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2</a:t>
            </a:fld>
            <a:endParaRPr lang="uk-UA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11700" y="-124863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Аналіз проблеми (аналіз існуючих рішень) </a:t>
            </a:r>
            <a:endParaRPr sz="3200" dirty="0"/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62475D-5E0B-A5AC-3922-2970FC56A64D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3</a:t>
            </a:fld>
            <a:endParaRPr lang="uk-UA" dirty="0"/>
          </a:p>
        </p:txBody>
      </p:sp>
      <p:graphicFrame>
        <p:nvGraphicFramePr>
          <p:cNvPr id="3" name="Таблиця 2">
            <a:extLst>
              <a:ext uri="{FF2B5EF4-FFF2-40B4-BE49-F238E27FC236}">
                <a16:creationId xmlns:a16="http://schemas.microsoft.com/office/drawing/2014/main" id="{D42CD57E-6265-A652-6960-91C5CCECCB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4404637"/>
              </p:ext>
            </p:extLst>
          </p:nvPr>
        </p:nvGraphicFramePr>
        <p:xfrm>
          <a:off x="446049" y="891655"/>
          <a:ext cx="7924800" cy="33601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1600">
                  <a:extLst>
                    <a:ext uri="{9D8B030D-6E8A-4147-A177-3AD203B41FA5}">
                      <a16:colId xmlns:a16="http://schemas.microsoft.com/office/drawing/2014/main" val="799301187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3971402882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1338411994"/>
                    </a:ext>
                  </a:extLst>
                </a:gridCol>
              </a:tblGrid>
              <a:tr h="434109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600" dirty="0" err="1">
                          <a:effectLst/>
                          <a:latin typeface="Google Sans Text"/>
                        </a:rPr>
                        <a:t>Існуючі</a:t>
                      </a:r>
                      <a:r>
                        <a:rPr lang="ru-RU" sz="1600" dirty="0">
                          <a:effectLst/>
                          <a:latin typeface="Google Sans Text"/>
                        </a:rPr>
                        <a:t> </a:t>
                      </a:r>
                      <a:r>
                        <a:rPr lang="ru-RU" sz="1600" dirty="0" err="1">
                          <a:effectLst/>
                          <a:latin typeface="Google Sans Text"/>
                        </a:rPr>
                        <a:t>рішення</a:t>
                      </a:r>
                      <a:endParaRPr lang="ru-RU" sz="1600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uk-UA" dirty="0"/>
                        <a:t>Переваги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dirty="0"/>
                        <a:t>Недоліки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2528495"/>
                  </a:ext>
                </a:extLst>
              </a:tr>
              <a:tr h="533796">
                <a:tc>
                  <a:txBody>
                    <a:bodyPr/>
                    <a:lstStyle/>
                    <a:p>
                      <a:r>
                        <a:rPr lang="en-US" dirty="0"/>
                        <a:t>Risk of Rain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 err="1"/>
                        <a:t>Гіперболізовані</a:t>
                      </a:r>
                      <a:r>
                        <a:rPr lang="ru-RU" sz="1200" dirty="0"/>
                        <a:t> </a:t>
                      </a:r>
                      <a:r>
                        <a:rPr lang="ru-RU" sz="1200" dirty="0" err="1"/>
                        <a:t>силуети</a:t>
                      </a:r>
                      <a:r>
                        <a:rPr lang="ru-RU" sz="1200" dirty="0"/>
                        <a:t> 3D-моделей, </a:t>
                      </a:r>
                      <a:r>
                        <a:rPr lang="ru-RU" sz="1200" dirty="0" err="1"/>
                        <a:t>легке</a:t>
                      </a:r>
                      <a:r>
                        <a:rPr lang="ru-RU" sz="1200" dirty="0"/>
                        <a:t> </a:t>
                      </a:r>
                      <a:r>
                        <a:rPr lang="ru-RU" sz="1200" dirty="0" err="1"/>
                        <a:t>розпізнавання</a:t>
                      </a:r>
                      <a:r>
                        <a:rPr lang="ru-RU" sz="1200" dirty="0"/>
                        <a:t> </a:t>
                      </a:r>
                      <a:r>
                        <a:rPr lang="ru-RU" sz="1200" dirty="0" err="1"/>
                        <a:t>ворогів</a:t>
                      </a:r>
                      <a:r>
                        <a:rPr lang="ru-RU" sz="1200" dirty="0"/>
                        <a:t>, </a:t>
                      </a:r>
                      <a:r>
                        <a:rPr lang="ru-RU" sz="1200" dirty="0" err="1"/>
                        <a:t>контрастне</a:t>
                      </a:r>
                      <a:r>
                        <a:rPr lang="ru-RU" sz="1200" dirty="0"/>
                        <a:t> </a:t>
                      </a:r>
                      <a:r>
                        <a:rPr lang="ru-RU" sz="1200" dirty="0" err="1"/>
                        <a:t>освітлення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 err="1"/>
                        <a:t>Візуальне</a:t>
                      </a:r>
                      <a:r>
                        <a:rPr lang="ru-RU" sz="1200" dirty="0"/>
                        <a:t> </a:t>
                      </a:r>
                      <a:r>
                        <a:rPr lang="ru-RU" sz="1200" dirty="0" err="1"/>
                        <a:t>перевантаження</a:t>
                      </a:r>
                      <a:r>
                        <a:rPr lang="ru-RU" sz="1200" dirty="0"/>
                        <a:t> </a:t>
                      </a:r>
                      <a:r>
                        <a:rPr lang="ru-RU" sz="1200" dirty="0" err="1"/>
                        <a:t>сцени</a:t>
                      </a:r>
                      <a:r>
                        <a:rPr lang="ru-RU" sz="1200" dirty="0"/>
                        <a:t> (</a:t>
                      </a:r>
                      <a:r>
                        <a:rPr lang="ru-RU" sz="1200" dirty="0" err="1"/>
                        <a:t>візуальний</a:t>
                      </a:r>
                      <a:r>
                        <a:rPr lang="ru-RU" sz="1200" dirty="0"/>
                        <a:t> шум) через велику </a:t>
                      </a:r>
                      <a:r>
                        <a:rPr lang="ru-RU" sz="1200" dirty="0" err="1"/>
                        <a:t>кількість</a:t>
                      </a:r>
                      <a:r>
                        <a:rPr lang="ru-RU" sz="1200" dirty="0"/>
                        <a:t> </a:t>
                      </a:r>
                      <a:r>
                        <a:rPr lang="ru-RU" sz="1200" dirty="0" err="1"/>
                        <a:t>об'єктів</a:t>
                      </a:r>
                      <a:r>
                        <a:rPr lang="ru-RU" sz="1200" dirty="0"/>
                        <a:t>, </a:t>
                      </a:r>
                      <a:r>
                        <a:rPr lang="ru-RU" sz="1200" dirty="0" err="1"/>
                        <a:t>що</a:t>
                      </a:r>
                      <a:r>
                        <a:rPr lang="ru-RU" sz="1200" dirty="0"/>
                        <a:t> </a:t>
                      </a:r>
                      <a:r>
                        <a:rPr lang="ru-RU" sz="1200" dirty="0" err="1"/>
                        <a:t>світяться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5613434"/>
                  </a:ext>
                </a:extLst>
              </a:tr>
              <a:tr h="533796">
                <a:tc>
                  <a:txBody>
                    <a:bodyPr/>
                    <a:lstStyle/>
                    <a:p>
                      <a:r>
                        <a:rPr lang="en-US" dirty="0" err="1"/>
                        <a:t>Astroneer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 err="1"/>
                        <a:t>Чистий</a:t>
                      </a:r>
                      <a:r>
                        <a:rPr lang="ru-RU" sz="1200" dirty="0"/>
                        <a:t> </a:t>
                      </a:r>
                      <a:r>
                        <a:rPr lang="ru-RU" sz="1200" dirty="0" err="1"/>
                        <a:t>візуальний</a:t>
                      </a:r>
                      <a:r>
                        <a:rPr lang="ru-RU" sz="1200" dirty="0"/>
                        <a:t> стиль без текстур (</a:t>
                      </a:r>
                      <a:r>
                        <a:rPr lang="ru-RU" sz="1200" dirty="0" err="1"/>
                        <a:t>Flat</a:t>
                      </a:r>
                      <a:r>
                        <a:rPr lang="ru-RU" sz="1200" dirty="0"/>
                        <a:t> </a:t>
                      </a:r>
                      <a:r>
                        <a:rPr lang="ru-RU" sz="1200" dirty="0" err="1"/>
                        <a:t>shading</a:t>
                      </a:r>
                      <a:r>
                        <a:rPr lang="ru-RU" sz="1200" dirty="0"/>
                        <a:t>, </a:t>
                      </a:r>
                      <a:r>
                        <a:rPr lang="ru-RU" sz="1200" dirty="0" err="1"/>
                        <a:t>градієнти</a:t>
                      </a:r>
                      <a:r>
                        <a:rPr lang="ru-RU" sz="1200" dirty="0"/>
                        <a:t>), акцент на </a:t>
                      </a:r>
                      <a:r>
                        <a:rPr lang="ru-RU" sz="1200" dirty="0" err="1"/>
                        <a:t>формі</a:t>
                      </a:r>
                      <a:r>
                        <a:rPr lang="ru-RU" sz="1200" dirty="0"/>
                        <a:t> та </a:t>
                      </a:r>
                      <a:r>
                        <a:rPr lang="ru-RU" sz="1200" dirty="0" err="1"/>
                        <a:t>колірній</a:t>
                      </a:r>
                      <a:r>
                        <a:rPr lang="ru-RU" sz="1200" dirty="0"/>
                        <a:t> </a:t>
                      </a:r>
                      <a:r>
                        <a:rPr lang="ru-RU" sz="1200" dirty="0" err="1"/>
                        <a:t>гармонії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 err="1"/>
                        <a:t>Відсутність</a:t>
                      </a:r>
                      <a:r>
                        <a:rPr lang="ru-RU" sz="1200" dirty="0"/>
                        <a:t> </a:t>
                      </a:r>
                      <a:r>
                        <a:rPr lang="ru-RU" sz="1200" dirty="0" err="1"/>
                        <a:t>агресивних</a:t>
                      </a:r>
                      <a:r>
                        <a:rPr lang="ru-RU" sz="1200" dirty="0"/>
                        <a:t> форм (моделей </a:t>
                      </a:r>
                      <a:r>
                        <a:rPr lang="ru-RU" sz="1200" dirty="0" err="1"/>
                        <a:t>ворогів</a:t>
                      </a:r>
                      <a:r>
                        <a:rPr lang="ru-RU" sz="1200" dirty="0"/>
                        <a:t>) та контрастного </a:t>
                      </a:r>
                      <a:r>
                        <a:rPr lang="ru-RU" sz="1200" dirty="0" err="1"/>
                        <a:t>освітлення</a:t>
                      </a:r>
                      <a:r>
                        <a:rPr lang="ru-RU" sz="1200" dirty="0"/>
                        <a:t> для </a:t>
                      </a:r>
                      <a:r>
                        <a:rPr lang="ru-RU" sz="1200" dirty="0" err="1"/>
                        <a:t>бойових</a:t>
                      </a:r>
                      <a:r>
                        <a:rPr lang="ru-RU" sz="1200" dirty="0"/>
                        <a:t> сцен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0912988"/>
                  </a:ext>
                </a:extLst>
              </a:tr>
              <a:tr h="533796">
                <a:tc>
                  <a:txBody>
                    <a:bodyPr/>
                    <a:lstStyle/>
                    <a:p>
                      <a:r>
                        <a:rPr lang="en-US" dirty="0"/>
                        <a:t>Windblown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 err="1"/>
                        <a:t>Бездоганна</a:t>
                      </a:r>
                      <a:r>
                        <a:rPr lang="ru-RU" sz="1200" dirty="0"/>
                        <a:t> </a:t>
                      </a:r>
                      <a:r>
                        <a:rPr lang="ru-RU" sz="1200" dirty="0" err="1"/>
                        <a:t>читабельність</a:t>
                      </a:r>
                      <a:r>
                        <a:rPr lang="ru-RU" sz="1200" dirty="0"/>
                        <a:t> </a:t>
                      </a:r>
                      <a:r>
                        <a:rPr lang="ru-RU" sz="1200" dirty="0" err="1"/>
                        <a:t>динамічних</a:t>
                      </a:r>
                      <a:r>
                        <a:rPr lang="ru-RU" sz="1200" dirty="0"/>
                        <a:t> сцен, </a:t>
                      </a:r>
                      <a:r>
                        <a:rPr lang="ru-RU" sz="1200" dirty="0" err="1"/>
                        <a:t>чіткі</a:t>
                      </a:r>
                      <a:r>
                        <a:rPr lang="ru-RU" sz="1200" dirty="0"/>
                        <a:t> </a:t>
                      </a:r>
                      <a:r>
                        <a:rPr lang="ru-RU" sz="1200" dirty="0" err="1"/>
                        <a:t>межі</a:t>
                      </a:r>
                      <a:r>
                        <a:rPr lang="ru-RU" sz="1200" dirty="0"/>
                        <a:t> </a:t>
                      </a:r>
                      <a:r>
                        <a:rPr lang="ru-RU" sz="1200" dirty="0" err="1"/>
                        <a:t>об'єктів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 err="1"/>
                        <a:t>Ізометрична</a:t>
                      </a:r>
                      <a:r>
                        <a:rPr lang="ru-RU" sz="1200" dirty="0"/>
                        <a:t> камера </a:t>
                      </a:r>
                      <a:r>
                        <a:rPr lang="ru-RU" sz="1200" dirty="0" err="1"/>
                        <a:t>обмежує</a:t>
                      </a:r>
                      <a:r>
                        <a:rPr lang="ru-RU" sz="1200" dirty="0"/>
                        <a:t> </a:t>
                      </a:r>
                      <a:r>
                        <a:rPr lang="ru-RU" sz="1200" dirty="0" err="1"/>
                        <a:t>огляд</a:t>
                      </a:r>
                      <a:r>
                        <a:rPr lang="ru-RU" sz="1200" dirty="0"/>
                        <a:t> моделей; </a:t>
                      </a:r>
                      <a:r>
                        <a:rPr lang="ru-RU" sz="1200" dirty="0" err="1"/>
                        <a:t>перенасиченість</a:t>
                      </a:r>
                      <a:r>
                        <a:rPr lang="ru-RU" sz="1200" dirty="0"/>
                        <a:t> </a:t>
                      </a:r>
                      <a:r>
                        <a:rPr lang="ru-RU" sz="1200" dirty="0" err="1"/>
                        <a:t>неонових</a:t>
                      </a:r>
                      <a:r>
                        <a:rPr lang="ru-RU" sz="1200" dirty="0"/>
                        <a:t> </a:t>
                      </a:r>
                      <a:r>
                        <a:rPr lang="ru-RU" sz="1200" dirty="0" err="1"/>
                        <a:t>кольорів</a:t>
                      </a:r>
                      <a:r>
                        <a:rPr lang="ru-RU" sz="1200" dirty="0"/>
                        <a:t> </a:t>
                      </a:r>
                      <a:r>
                        <a:rPr lang="ru-RU" sz="1200" dirty="0" err="1"/>
                        <a:t>втомлює</a:t>
                      </a:r>
                      <a:r>
                        <a:rPr lang="ru-RU" sz="1200" dirty="0"/>
                        <a:t> </a:t>
                      </a:r>
                      <a:r>
                        <a:rPr lang="ru-RU" sz="1200" dirty="0" err="1"/>
                        <a:t>зір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0340002"/>
                  </a:ext>
                </a:extLst>
              </a:tr>
              <a:tr h="533796">
                <a:tc>
                  <a:txBody>
                    <a:bodyPr/>
                    <a:lstStyle/>
                    <a:p>
                      <a:r>
                        <a:rPr lang="en-US" dirty="0" err="1"/>
                        <a:t>Magicka</a:t>
                      </a:r>
                      <a:r>
                        <a:rPr lang="en-US" dirty="0"/>
                        <a:t>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 err="1"/>
                        <a:t>Досконале</a:t>
                      </a:r>
                      <a:r>
                        <a:rPr lang="ru-RU" sz="1200" dirty="0"/>
                        <a:t> </a:t>
                      </a:r>
                      <a:r>
                        <a:rPr lang="ru-RU" sz="1200" dirty="0" err="1"/>
                        <a:t>колірне</a:t>
                      </a:r>
                      <a:r>
                        <a:rPr lang="ru-RU" sz="1200" dirty="0"/>
                        <a:t> та </a:t>
                      </a:r>
                      <a:r>
                        <a:rPr lang="ru-RU" sz="1200" dirty="0" err="1"/>
                        <a:t>формове</a:t>
                      </a:r>
                      <a:r>
                        <a:rPr lang="ru-RU" sz="1200" dirty="0"/>
                        <a:t> </a:t>
                      </a:r>
                      <a:r>
                        <a:rPr lang="ru-RU" sz="1200" dirty="0" err="1"/>
                        <a:t>кодування</a:t>
                      </a:r>
                      <a:r>
                        <a:rPr lang="ru-RU" sz="1200" dirty="0"/>
                        <a:t> </a:t>
                      </a:r>
                      <a:r>
                        <a:rPr lang="ru-RU" sz="1200" dirty="0" err="1"/>
                        <a:t>інтерактивних</a:t>
                      </a:r>
                      <a:r>
                        <a:rPr lang="ru-RU" sz="1200" dirty="0"/>
                        <a:t> зон, </a:t>
                      </a:r>
                      <a:r>
                        <a:rPr lang="ru-RU" sz="1200" dirty="0" err="1"/>
                        <a:t>динамічне</a:t>
                      </a:r>
                      <a:r>
                        <a:rPr lang="ru-RU" sz="1200" dirty="0"/>
                        <a:t> </a:t>
                      </a:r>
                      <a:r>
                        <a:rPr lang="ru-RU" sz="1200" dirty="0" err="1"/>
                        <a:t>локальне</a:t>
                      </a:r>
                      <a:r>
                        <a:rPr lang="ru-RU" sz="1200" dirty="0"/>
                        <a:t> </a:t>
                      </a:r>
                      <a:r>
                        <a:rPr lang="ru-RU" sz="1200" dirty="0" err="1"/>
                        <a:t>освітлення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 err="1"/>
                        <a:t>Деталізоване</a:t>
                      </a:r>
                      <a:r>
                        <a:rPr lang="ru-RU" sz="1200" dirty="0"/>
                        <a:t> 3D </a:t>
                      </a:r>
                      <a:r>
                        <a:rPr lang="ru-RU" sz="1200" dirty="0" err="1"/>
                        <a:t>зі</a:t>
                      </a:r>
                      <a:r>
                        <a:rPr lang="ru-RU" sz="1200" dirty="0"/>
                        <a:t> </a:t>
                      </a:r>
                      <a:r>
                        <a:rPr lang="ru-RU" sz="1200" dirty="0" err="1"/>
                        <a:t>складними</a:t>
                      </a:r>
                      <a:r>
                        <a:rPr lang="ru-RU" sz="1200" dirty="0"/>
                        <a:t> </a:t>
                      </a:r>
                      <a:r>
                        <a:rPr lang="ru-RU" sz="1200" dirty="0" err="1"/>
                        <a:t>реалістичними</a:t>
                      </a:r>
                      <a:r>
                        <a:rPr lang="ru-RU" sz="1200" dirty="0"/>
                        <a:t> </a:t>
                      </a:r>
                      <a:r>
                        <a:rPr lang="ru-RU" sz="1200" dirty="0" err="1"/>
                        <a:t>матеріалами</a:t>
                      </a:r>
                      <a:r>
                        <a:rPr lang="ru-RU" sz="1200" dirty="0"/>
                        <a:t>, </a:t>
                      </a:r>
                      <a:r>
                        <a:rPr lang="ru-RU" sz="1200" dirty="0" err="1"/>
                        <a:t>що</a:t>
                      </a:r>
                      <a:r>
                        <a:rPr lang="ru-RU" sz="1200" dirty="0"/>
                        <a:t> </a:t>
                      </a:r>
                      <a:r>
                        <a:rPr lang="ru-RU" sz="1200" dirty="0" err="1"/>
                        <a:t>суперечить</a:t>
                      </a:r>
                      <a:r>
                        <a:rPr lang="ru-RU" sz="1200" dirty="0"/>
                        <a:t> </a:t>
                      </a:r>
                      <a:r>
                        <a:rPr lang="ru-RU" sz="1200" dirty="0" err="1"/>
                        <a:t>естетиці</a:t>
                      </a:r>
                      <a:r>
                        <a:rPr lang="ru-RU" sz="1200" dirty="0"/>
                        <a:t> </a:t>
                      </a:r>
                      <a:r>
                        <a:rPr lang="ru-RU" sz="1200" dirty="0" err="1"/>
                        <a:t>мінімалістичного</a:t>
                      </a:r>
                      <a:r>
                        <a:rPr lang="ru-RU" sz="1200" dirty="0"/>
                        <a:t> </a:t>
                      </a:r>
                      <a:r>
                        <a:rPr lang="ru-RU" sz="1200" dirty="0" err="1"/>
                        <a:t>Low-poly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280698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-186276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Постановка задачі та опис системи</a:t>
            </a:r>
            <a:endParaRPr sz="3200" dirty="0"/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1252349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spcBef>
                <a:spcPts val="1500"/>
              </a:spcBef>
              <a:spcAft>
                <a:spcPts val="1200"/>
              </a:spcAft>
              <a:buNone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полягає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необхідності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створення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модульного 3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D-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середовища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яке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балансує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між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художньою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якістю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технічною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продуктивністю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Відсутність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оптимізації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геометрії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процедурної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генерації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призводить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падіння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FPS</a:t>
            </a:r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>
              <a:spcBef>
                <a:spcPts val="1500"/>
              </a:spcBef>
              <a:spcAft>
                <a:spcPts val="1200"/>
              </a:spcAft>
              <a:buNone/>
            </a:pP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Очікувані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результати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Розробка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пакета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оптимізованих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D-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моделей у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середовищі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Blender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налаштування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системи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стилізованого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освітлення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Unity.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Це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дозволить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сформувати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цілісний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візуальний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стиль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гри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забезпечити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стабільну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частоту 60+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FPS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гарантувати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безшовну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роботу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алгоритмів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процедурної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генерації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ігрового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світу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uk-UA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23D9805-068E-FE7E-BC9A-0C410D68B73B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4</a:t>
            </a:fld>
            <a:endParaRPr lang="uk-UA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xfrm>
            <a:off x="311700" y="-148309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Вибір технологій розробки </a:t>
            </a:r>
            <a:endParaRPr sz="3200" dirty="0"/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43E912-C721-1128-5F72-D9BB9BCF5CCA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5</a:t>
            </a:fld>
            <a:endParaRPr lang="uk-UA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6ACA00A-DE2F-89FC-E5D1-6BFF06FEE5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41609" y="1559757"/>
            <a:ext cx="4863016" cy="216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Рушій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гри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Unity</a:t>
            </a:r>
            <a:r>
              <a:rPr kumimoji="0" lang="uk-U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5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Середовище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3D-моделювання: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Blender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контролю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версій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Git (GitHub)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Формат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експорту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3D-моделей: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FBX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Стилістика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графіки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Low-poly 3D-графіка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268924" y="349659"/>
            <a:ext cx="9165007" cy="143453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ru-RU" sz="3200" dirty="0" err="1"/>
              <a:t>Проєктування</a:t>
            </a:r>
            <a:r>
              <a:rPr lang="ru-RU" sz="3200" dirty="0"/>
              <a:t> </a:t>
            </a:r>
            <a:r>
              <a:rPr lang="ru-RU" sz="3200" dirty="0" err="1"/>
              <a:t>архітектури</a:t>
            </a:r>
            <a:r>
              <a:rPr lang="uk-UA" sz="3200" dirty="0"/>
              <a:t> візуальної підсистеми</a:t>
            </a:r>
            <a:br>
              <a:rPr lang="en-US" dirty="0"/>
            </a:br>
            <a:endParaRPr sz="3200" dirty="0"/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A55726-B906-08A2-C43F-1B00FCF5F354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6</a:t>
            </a:fld>
            <a:endParaRPr lang="uk-UA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D5AE874-C7D7-8E04-6D32-B0F1F624C8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6628" y="1180959"/>
            <a:ext cx="3191612" cy="3225360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400D8F4E-D098-5308-DCD0-8B872D4044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65760" y="1180959"/>
            <a:ext cx="479611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ProceduralRoom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основний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контейнер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що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керує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генерацією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модульного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3D-оточення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та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зберігає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списки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об'єктів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локації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Player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та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Enemy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керування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ігровими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персонажами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синхронізація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скелетних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3D-анімацій 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PlayAnimation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та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логіка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бою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IDamageable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інтерфейс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що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забезпечує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візуальний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відгук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(Flash Effect,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зміна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кольору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отриманні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шкоди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моделями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та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IInteractable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управління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інтерактивними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3D-об'єктами 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наприклад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кристалами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та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зміною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їхнього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світіння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взаємодії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>
            <a:spLocks noGrp="1"/>
          </p:cNvSpPr>
          <p:nvPr>
            <p:ph type="title"/>
          </p:nvPr>
        </p:nvSpPr>
        <p:spPr>
          <a:xfrm>
            <a:off x="311700" y="31240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Опис програмного забезпечення, що було використано у дослідженні</a:t>
            </a:r>
            <a:endParaRPr sz="3200" dirty="0"/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26AFC1-F793-030A-440F-FC50C3AEF71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7</a:t>
            </a:fld>
            <a:endParaRPr lang="uk-UA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5492DD6-F352-AA4B-5982-F91E28001D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60383" y="1412772"/>
            <a:ext cx="709271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Unity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основний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ігровий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рушій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інтеграції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3D-моделей,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налаштування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матеріалів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шейдерів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заломлення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та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локального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освітлення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Blender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середовище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тривимірного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моделювання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створення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та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оптимізації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низькополігональної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(Low-poly)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геометрії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об'єктів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та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персонажів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Git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та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GitHub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розподілена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контролю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версій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безпечного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зберігання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експортованих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графічних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ассетів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(.FBX)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та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спільної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командної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розробки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xfrm>
            <a:off x="311700" y="-9203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Дизайн системи</a:t>
            </a:r>
            <a:endParaRPr sz="3200" dirty="0"/>
          </a:p>
        </p:txBody>
      </p:sp>
      <p:sp>
        <p:nvSpPr>
          <p:cNvPr id="114" name="Google Shape;114;p20"/>
          <p:cNvSpPr txBox="1">
            <a:spLocks noGrp="1"/>
          </p:cNvSpPr>
          <p:nvPr>
            <p:ph type="body" idx="1"/>
          </p:nvPr>
        </p:nvSpPr>
        <p:spPr>
          <a:xfrm>
            <a:off x="283725" y="1225225"/>
            <a:ext cx="7016607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lnSpc>
                <a:spcPct val="150000"/>
              </a:lnSpc>
              <a:buNone/>
            </a:pPr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Методи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компонентно-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орієнтована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архітектура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патерн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Prefab, Low-poly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моделювання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Flat Shading</a:t>
            </a:r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аналіз аналогів гри</a:t>
            </a:r>
          </a:p>
          <a:p>
            <a:pPr marL="114300" indent="0">
              <a:lnSpc>
                <a:spcPct val="150000"/>
              </a:lnSpc>
              <a:buNone/>
            </a:pPr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Послідовність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50000"/>
              </a:lnSpc>
              <a:buNone/>
            </a:pP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аналіз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вимог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розробка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арт-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дирекшену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колірні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палітри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мова форм);</a:t>
            </a:r>
          </a:p>
          <a:p>
            <a:pPr marL="114300" indent="0">
              <a:lnSpc>
                <a:spcPct val="150000"/>
              </a:lnSpc>
              <a:buNone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D-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моделювання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оптимізація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топології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експорт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форматі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FBX;</a:t>
            </a:r>
          </a:p>
          <a:p>
            <a:pPr marL="114300" indent="0">
              <a:lnSpc>
                <a:spcPct val="150000"/>
              </a:lnSpc>
              <a:buNone/>
            </a:pP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інтеграція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рушій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конфігурація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матеріалів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ігрового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освітлення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14300" indent="0">
              <a:lnSpc>
                <a:spcPct val="150000"/>
              </a:lnSpc>
              <a:buNone/>
            </a:pPr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Технології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Unity, Blender.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8624834-013E-7249-F488-C816A0DA935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8</a:t>
            </a:fld>
            <a:endParaRPr lang="uk-UA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Приклад 3</a:t>
            </a:r>
            <a:r>
              <a:rPr lang="en-US" sz="3200" dirty="0"/>
              <a:t>D </a:t>
            </a:r>
            <a:r>
              <a:rPr lang="uk" sz="3200" dirty="0"/>
              <a:t>реалізації</a:t>
            </a:r>
            <a:endParaRPr sz="3200" dirty="0"/>
          </a:p>
        </p:txBody>
      </p:sp>
      <p:sp>
        <p:nvSpPr>
          <p:cNvPr id="121" name="Google Shape;121;p21"/>
          <p:cNvSpPr txBox="1">
            <a:spLocks noGrp="1"/>
          </p:cNvSpPr>
          <p:nvPr>
            <p:ph type="body" idx="1"/>
          </p:nvPr>
        </p:nvSpPr>
        <p:spPr>
          <a:xfrm>
            <a:off x="612631" y="841901"/>
            <a:ext cx="4342076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ru-RU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Етап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1: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Blender (</a:t>
            </a:r>
            <a:r>
              <a:rPr lang="ru-RU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Моделювання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14300" indent="0">
              <a:buNone/>
            </a:pP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Створення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низькополігональної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сітки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використанням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інструментів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Extrude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 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Контроль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топології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видалення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зайвої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геометрії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оптимізації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Economica" panose="020B0604020202020204" charset="0"/>
            </a:endParaRPr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800C66-AABB-EFA8-12F4-0C56A1243712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9</a:t>
            </a:fld>
            <a:endParaRPr lang="uk-UA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85B2487-9D5C-271E-0E17-735BA14F64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112" y="1935325"/>
            <a:ext cx="2361055" cy="23423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2F58E10-CA9C-4DA9-D25C-DA27CD4369CB}"/>
              </a:ext>
            </a:extLst>
          </p:cNvPr>
          <p:cNvSpPr txBox="1"/>
          <p:nvPr/>
        </p:nvSpPr>
        <p:spPr>
          <a:xfrm>
            <a:off x="4954707" y="942007"/>
            <a:ext cx="354030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1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Етап</a:t>
            </a:r>
            <a:r>
              <a:rPr lang="ru-RU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2: </a:t>
            </a:r>
            <a:r>
              <a:rPr 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Unity (</a:t>
            </a:r>
            <a:r>
              <a:rPr lang="ru-RU" b="1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Інтеграція</a:t>
            </a:r>
            <a:r>
              <a:rPr lang="ru-RU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l">
              <a:buNone/>
            </a:pPr>
            <a:r>
              <a:rPr lang="ru-RU" b="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Налаштування</a:t>
            </a:r>
            <a:r>
              <a:rPr lang="ru-RU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матеріалів</a:t>
            </a:r>
            <a:r>
              <a:rPr lang="ru-RU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персонажа</a:t>
            </a:r>
            <a:r>
              <a:rPr lang="ru-RU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b="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Налаштування</a:t>
            </a:r>
            <a:r>
              <a:rPr lang="ru-RU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анімацій</a:t>
            </a:r>
            <a:r>
              <a:rPr lang="ru-RU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8A83C80-CDBF-1D22-0A34-17C9147D3A1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5113"/>
          <a:stretch>
            <a:fillRect/>
          </a:stretch>
        </p:blipFill>
        <p:spPr>
          <a:xfrm>
            <a:off x="4348616" y="2074166"/>
            <a:ext cx="4571650" cy="222743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268925" y="-14362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dirty="0"/>
              <a:t>Моделі </a:t>
            </a:r>
            <a:r>
              <a:rPr lang="uk-UA" sz="3200" dirty="0" err="1"/>
              <a:t>персонажей</a:t>
            </a:r>
            <a:endParaRPr sz="3200" dirty="0"/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8D948D-369C-B702-98D8-76BFF8794D1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10</a:t>
            </a:fld>
            <a:endParaRPr lang="uk-UA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3BFBE31-BA98-D67A-0A68-378FF5047B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925" y="1196791"/>
            <a:ext cx="2324487" cy="2460113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350D5E0-9736-77D3-E365-0E0D06BA34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02017" y="1311660"/>
            <a:ext cx="2921165" cy="2230374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8F6F6F1-2D09-823C-BCC6-D97727C379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31788" y="1311660"/>
            <a:ext cx="2657737" cy="223037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>
            <a:spLocks noGrp="1"/>
          </p:cNvSpPr>
          <p:nvPr>
            <p:ph type="title"/>
          </p:nvPr>
        </p:nvSpPr>
        <p:spPr>
          <a:xfrm>
            <a:off x="268925" y="-186276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Публікація результатів </a:t>
            </a:r>
            <a:endParaRPr sz="3200" dirty="0"/>
          </a:p>
        </p:txBody>
      </p:sp>
      <p:pic>
        <p:nvPicPr>
          <p:cNvPr id="136" name="Google Shape;13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BB10B47-7B7A-16D3-B2F7-7BCD981C8FD9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11</a:t>
            </a:fld>
            <a:endParaRPr lang="uk-UA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F7F7A55-44C4-EA16-DE8A-E9DE74E63E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8652" y="645024"/>
            <a:ext cx="2489143" cy="348589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1CC8F5A-C4E0-3B5B-284D-C9F83529F6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9796" y="964794"/>
            <a:ext cx="4387727" cy="2846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737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>
            <a:spLocks noGrp="1"/>
          </p:cNvSpPr>
          <p:nvPr>
            <p:ph type="title"/>
          </p:nvPr>
        </p:nvSpPr>
        <p:spPr>
          <a:xfrm>
            <a:off x="311700" y="-35287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Підсумки </a:t>
            </a:r>
            <a:endParaRPr sz="3200" dirty="0"/>
          </a:p>
        </p:txBody>
      </p:sp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B5B94D8-63F6-7EAC-6461-2DB4B135596F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12</a:t>
            </a:fld>
            <a:endParaRPr lang="uk-UA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EDBDA84-6518-B2AB-A067-06C5550C0C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44964" y="1166946"/>
            <a:ext cx="6275503" cy="3231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Реалізовано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комплексну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візуальну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підсистему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та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пакет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оптимізованих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3D-моделей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гри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жанрі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Roguelike.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Корисність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Демонстрація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ефективного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поєднання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Low-poly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стилістики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колірного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кодування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та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освітлення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створення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виразного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ігрового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досвіду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стабільній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високій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продуктивності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uk-UA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Можливості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розвитку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створення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нових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модульних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3D-ассетів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розширення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локацій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marL="342900"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впровадження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системи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динамічної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зміни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колірних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палітр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та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освітлення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marL="342900"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масштабування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ігрового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контенту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нових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зон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кілець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ігрового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світу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Шаблон презентації кваліфікаційної роботи магістрів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презентації кваліфікаційної роботи магістрів" id="{72E840FA-3155-46C9-BB37-701E4C9B1C67}" vid="{DC416FE5-D050-4603-AD75-8F49A0CCCB6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Шаблон_презентації_до_ККП_бакалавра_2025 (1)</Template>
  <TotalTime>0</TotalTime>
  <Words>678</Words>
  <Application>Microsoft Office PowerPoint</Application>
  <PresentationFormat>Екран (16:9)</PresentationFormat>
  <Paragraphs>76</Paragraphs>
  <Slides>12</Slides>
  <Notes>12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12</vt:i4>
      </vt:variant>
    </vt:vector>
  </HeadingPairs>
  <TitlesOfParts>
    <vt:vector size="18" baseType="lpstr">
      <vt:lpstr>Times New Roman</vt:lpstr>
      <vt:lpstr>Open Sans</vt:lpstr>
      <vt:lpstr>Economica</vt:lpstr>
      <vt:lpstr>Google Sans Text</vt:lpstr>
      <vt:lpstr>Arial</vt:lpstr>
      <vt:lpstr>Шаблон презентації кваліфікаційної роботи магістрів</vt:lpstr>
      <vt:lpstr> Ігрове програмне забезпечення в жанрі Roguelike на рушії Unity </vt:lpstr>
      <vt:lpstr>Мета роботи</vt:lpstr>
      <vt:lpstr>Аналіз проблеми (аналіз існуючих рішень) </vt:lpstr>
      <vt:lpstr>Постановка задачі та опис системи</vt:lpstr>
      <vt:lpstr>Вибір технологій розробки </vt:lpstr>
      <vt:lpstr>Проєктування архітектури візуальної підсистеми </vt:lpstr>
      <vt:lpstr>Опис програмного забезпечення, що було використано у дослідженні</vt:lpstr>
      <vt:lpstr>Дизайн системи</vt:lpstr>
      <vt:lpstr>Приклад 3D реалізації</vt:lpstr>
      <vt:lpstr>Моделі персонажей</vt:lpstr>
      <vt:lpstr>Публікація результатів </vt:lpstr>
      <vt:lpstr>Підсумки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2026-05-29T10:41:38Z</dcterms:created>
  <dcterms:modified xsi:type="dcterms:W3CDTF">2026-05-29T10:42:05Z</dcterms:modified>
</cp:coreProperties>
</file>