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9" r:id="rId14"/>
    <p:sldId id="267" r:id="rId15"/>
  </p:sldIdLst>
  <p:sldSz cx="9144000" cy="5143500" type="screen16x9"/>
  <p:notesSz cx="6858000" cy="9144000"/>
  <p:embeddedFontLs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Помірний стиль 1 –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Помірний стиль 1 –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Помірний стиль 1 –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Помірний стиль 1 –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Помірний стиль 1 –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12885" y="560600"/>
            <a:ext cx="3647390" cy="17990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Ігрове програмне забезпечення в жанрі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рушії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br>
              <a:rPr lang="en-US" dirty="0"/>
            </a:b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14654" y="3368763"/>
            <a:ext cx="4998694" cy="17990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Ходус Данило Євгенович, ПЗПІ-23-10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</a:pPr>
            <a:r>
              <a:rPr lang="uk" sz="1600" dirty="0"/>
              <a:t>Керівник: </a:t>
            </a:r>
            <a:r>
              <a:rPr lang="uk-UA" sz="1600" dirty="0" err="1"/>
              <a:t>ст.викл</a:t>
            </a:r>
            <a:r>
              <a:rPr lang="uk-UA" sz="1600" dirty="0"/>
              <a:t>. кафедри ПІ Юрій НОВІКОВ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червня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6B9465-32E2-660D-E5BC-895A957B2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2398" y="983237"/>
            <a:ext cx="687023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Мета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проєкту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Спроєктувати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реалізувати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високоефективну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низькозв'язану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клієнтську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архітектуру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гри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«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MagicUniverse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»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мовою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C#,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яка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функціонує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без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виділення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сміття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купі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під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час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основного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ігрового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циклу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цього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створюється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кастомний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менеджер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пулів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об'єктів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$O(1)$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фізично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коректний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контролер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гравця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Raycast-адаптацією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складного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рельєфу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модульний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штучний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інтелект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ворогів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базі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скінченного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автомата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(FSM).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40F58-5B48-A6CE-3A6D-A4AA77AC7AA0}"/>
              </a:ext>
            </a:extLst>
          </p:cNvPr>
          <p:cNvSpPr txBox="1"/>
          <p:nvPr/>
        </p:nvSpPr>
        <p:spPr>
          <a:xfrm>
            <a:off x="452398" y="2833438"/>
            <a:ext cx="6870235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 err="1"/>
              <a:t>Актуальність</a:t>
            </a:r>
            <a:r>
              <a:rPr lang="ru-RU" sz="1200" b="1" dirty="0"/>
              <a:t> </a:t>
            </a:r>
            <a:r>
              <a:rPr lang="ru-RU" sz="1200" b="1" dirty="0" err="1"/>
              <a:t>роботи</a:t>
            </a:r>
            <a:r>
              <a:rPr lang="ru-RU" sz="1200" b="1" dirty="0"/>
              <a:t>:</a:t>
            </a:r>
            <a:r>
              <a:rPr lang="ru-RU" sz="1200" dirty="0"/>
              <a:t> </a:t>
            </a:r>
            <a:r>
              <a:rPr lang="ru-RU" sz="1200" dirty="0" err="1"/>
              <a:t>Розробка</a:t>
            </a:r>
            <a:r>
              <a:rPr lang="ru-RU" sz="1200" dirty="0"/>
              <a:t> </a:t>
            </a:r>
            <a:r>
              <a:rPr lang="ru-RU" sz="1200" dirty="0" err="1"/>
              <a:t>динамічних</a:t>
            </a:r>
            <a:r>
              <a:rPr lang="ru-RU" sz="1200" dirty="0"/>
              <a:t> 3</a:t>
            </a:r>
            <a:r>
              <a:rPr lang="en-US" sz="1200" dirty="0"/>
              <a:t>D-</a:t>
            </a:r>
            <a:r>
              <a:rPr lang="ru-RU" sz="1200" dirty="0" err="1"/>
              <a:t>ігор</a:t>
            </a:r>
            <a:r>
              <a:rPr lang="ru-RU" sz="1200" dirty="0"/>
              <a:t> жанру </a:t>
            </a:r>
            <a:r>
              <a:rPr lang="en-US" sz="1200" dirty="0"/>
              <a:t>Roguelike </a:t>
            </a:r>
            <a:r>
              <a:rPr lang="ru-RU" sz="1200" dirty="0"/>
              <a:t>на </a:t>
            </a:r>
            <a:r>
              <a:rPr lang="ru-RU" sz="1200" dirty="0" err="1"/>
              <a:t>рушії</a:t>
            </a:r>
            <a:r>
              <a:rPr lang="ru-RU" sz="1200" dirty="0"/>
              <a:t> </a:t>
            </a:r>
            <a:r>
              <a:rPr lang="en-US" sz="1200" dirty="0"/>
              <a:t>Unity </a:t>
            </a:r>
            <a:r>
              <a:rPr lang="ru-RU" sz="1200" dirty="0"/>
              <a:t>часто </a:t>
            </a:r>
            <a:r>
              <a:rPr lang="ru-RU" sz="1200" dirty="0" err="1"/>
              <a:t>стикається</a:t>
            </a:r>
            <a:r>
              <a:rPr lang="ru-RU" sz="1200" dirty="0"/>
              <a:t> з </a:t>
            </a:r>
            <a:r>
              <a:rPr lang="ru-RU" sz="1200" dirty="0" err="1"/>
              <a:t>падінням</a:t>
            </a:r>
            <a:r>
              <a:rPr lang="ru-RU" sz="1200" dirty="0"/>
              <a:t> </a:t>
            </a:r>
            <a:r>
              <a:rPr lang="ru-RU" sz="1200" dirty="0" err="1"/>
              <a:t>продуктивності</a:t>
            </a:r>
            <a:r>
              <a:rPr lang="ru-RU" sz="1200" dirty="0"/>
              <a:t> через </a:t>
            </a:r>
            <a:r>
              <a:rPr lang="ru-RU" sz="1200" dirty="0" err="1"/>
              <a:t>мікрофризи</a:t>
            </a:r>
            <a:r>
              <a:rPr lang="ru-RU" sz="1200" dirty="0"/>
              <a:t>, </a:t>
            </a:r>
            <a:r>
              <a:rPr lang="ru-RU" sz="1200" dirty="0" err="1"/>
              <a:t>викликані</a:t>
            </a:r>
            <a:r>
              <a:rPr lang="ru-RU" sz="1200" dirty="0"/>
              <a:t> </a:t>
            </a:r>
            <a:r>
              <a:rPr lang="ru-RU" sz="1200" dirty="0" err="1"/>
              <a:t>роботою</a:t>
            </a:r>
            <a:r>
              <a:rPr lang="ru-RU" sz="1200" dirty="0"/>
              <a:t> </a:t>
            </a:r>
            <a:r>
              <a:rPr lang="ru-RU" sz="1200" dirty="0" err="1"/>
              <a:t>збирача</a:t>
            </a:r>
            <a:r>
              <a:rPr lang="ru-RU" sz="1200" dirty="0"/>
              <a:t> </a:t>
            </a:r>
            <a:r>
              <a:rPr lang="ru-RU" sz="1200" dirty="0" err="1"/>
              <a:t>сміття</a:t>
            </a:r>
            <a:r>
              <a:rPr lang="ru-RU" sz="1200" dirty="0"/>
              <a:t> (</a:t>
            </a:r>
            <a:r>
              <a:rPr lang="en-US" sz="1200" dirty="0"/>
              <a:t>Garbage Collector), </a:t>
            </a:r>
            <a:r>
              <a:rPr lang="ru-RU" sz="1200" dirty="0"/>
              <a:t>та </a:t>
            </a:r>
            <a:r>
              <a:rPr lang="ru-RU" sz="1200" dirty="0" err="1"/>
              <a:t>тісну</a:t>
            </a:r>
            <a:r>
              <a:rPr lang="ru-RU" sz="1200" dirty="0"/>
              <a:t> </a:t>
            </a:r>
            <a:r>
              <a:rPr lang="ru-RU" sz="1200" dirty="0" err="1"/>
              <a:t>зв'язність</a:t>
            </a:r>
            <a:r>
              <a:rPr lang="ru-RU" sz="1200" dirty="0"/>
              <a:t> </a:t>
            </a:r>
            <a:r>
              <a:rPr lang="ru-RU" sz="1200" dirty="0" err="1"/>
              <a:t>компонентів</a:t>
            </a:r>
            <a:r>
              <a:rPr lang="ru-RU" sz="1200" dirty="0"/>
              <a:t>. Тому </a:t>
            </a:r>
            <a:r>
              <a:rPr lang="ru-RU" sz="1200" dirty="0" err="1"/>
              <a:t>проєктування</a:t>
            </a:r>
            <a:r>
              <a:rPr lang="ru-RU" sz="1200" dirty="0"/>
              <a:t> </a:t>
            </a:r>
            <a:r>
              <a:rPr lang="ru-RU" sz="1200" dirty="0" err="1"/>
              <a:t>оптимізованої</a:t>
            </a:r>
            <a:r>
              <a:rPr lang="ru-RU" sz="1200" dirty="0"/>
              <a:t> </a:t>
            </a:r>
            <a:r>
              <a:rPr lang="en-US" sz="1200" dirty="0"/>
              <a:t>Garbage-Free </a:t>
            </a:r>
            <a:r>
              <a:rPr lang="ru-RU" sz="1200" dirty="0" err="1"/>
              <a:t>архітектури</a:t>
            </a:r>
            <a:r>
              <a:rPr lang="ru-RU" sz="1200" dirty="0"/>
              <a:t>, яка </a:t>
            </a:r>
            <a:r>
              <a:rPr lang="ru-RU" sz="1200" dirty="0" err="1"/>
              <a:t>виключає</a:t>
            </a:r>
            <a:r>
              <a:rPr lang="ru-RU" sz="1200" dirty="0"/>
              <a:t> </a:t>
            </a:r>
            <a:r>
              <a:rPr lang="ru-RU" sz="1200" dirty="0" err="1"/>
              <a:t>виділення</a:t>
            </a:r>
            <a:r>
              <a:rPr lang="ru-RU" sz="1200" dirty="0"/>
              <a:t> </a:t>
            </a:r>
            <a:r>
              <a:rPr lang="ru-RU" sz="1200" dirty="0" err="1"/>
              <a:t>динамічної</a:t>
            </a:r>
            <a:r>
              <a:rPr lang="ru-RU" sz="1200" dirty="0"/>
              <a:t> </a:t>
            </a:r>
            <a:r>
              <a:rPr lang="ru-RU" sz="1200" dirty="0" err="1"/>
              <a:t>пам'яті</a:t>
            </a:r>
            <a:r>
              <a:rPr lang="ru-RU" sz="1200" dirty="0"/>
              <a:t> </a:t>
            </a:r>
            <a:r>
              <a:rPr lang="ru-RU" sz="1200" dirty="0" err="1"/>
              <a:t>під</a:t>
            </a:r>
            <a:r>
              <a:rPr lang="ru-RU" sz="1200" dirty="0"/>
              <a:t> час бою, є критично </a:t>
            </a:r>
            <a:r>
              <a:rPr lang="ru-RU" sz="1200" dirty="0" err="1"/>
              <a:t>важливим</a:t>
            </a:r>
            <a:r>
              <a:rPr lang="ru-RU" sz="1200" dirty="0"/>
              <a:t> </a:t>
            </a:r>
            <a:r>
              <a:rPr lang="ru-RU" sz="1200" dirty="0" err="1"/>
              <a:t>інженерним</a:t>
            </a:r>
            <a:r>
              <a:rPr lang="ru-RU" sz="1200" dirty="0"/>
              <a:t> </a:t>
            </a:r>
            <a:r>
              <a:rPr lang="ru-RU" sz="1200" dirty="0" err="1"/>
              <a:t>завданням</a:t>
            </a:r>
            <a:r>
              <a:rPr lang="ru-RU" sz="1200" dirty="0"/>
              <a:t> для </a:t>
            </a:r>
            <a:r>
              <a:rPr lang="ru-RU" sz="1200" dirty="0" err="1"/>
              <a:t>забезпечення</a:t>
            </a:r>
            <a:r>
              <a:rPr lang="ru-RU" sz="1200" dirty="0"/>
              <a:t> плавного </a:t>
            </a:r>
            <a:r>
              <a:rPr lang="ru-RU" sz="1200" dirty="0" err="1"/>
              <a:t>ігрового</a:t>
            </a:r>
            <a:r>
              <a:rPr lang="ru-RU" sz="1200" dirty="0"/>
              <a:t> </a:t>
            </a:r>
            <a:r>
              <a:rPr lang="ru-RU" sz="1200" dirty="0" err="1"/>
              <a:t>процесу</a:t>
            </a:r>
            <a:r>
              <a:rPr lang="ru-RU" sz="1200" dirty="0"/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5405A749-4DA9-633B-5581-B54B79ED5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345111"/>
              </p:ext>
            </p:extLst>
          </p:nvPr>
        </p:nvGraphicFramePr>
        <p:xfrm>
          <a:off x="268927" y="706437"/>
          <a:ext cx="8606148" cy="379215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868716">
                  <a:extLst>
                    <a:ext uri="{9D8B030D-6E8A-4147-A177-3AD203B41FA5}">
                      <a16:colId xmlns:a16="http://schemas.microsoft.com/office/drawing/2014/main" val="1946347634"/>
                    </a:ext>
                  </a:extLst>
                </a:gridCol>
                <a:gridCol w="2868716">
                  <a:extLst>
                    <a:ext uri="{9D8B030D-6E8A-4147-A177-3AD203B41FA5}">
                      <a16:colId xmlns:a16="http://schemas.microsoft.com/office/drawing/2014/main" val="2994694188"/>
                    </a:ext>
                  </a:extLst>
                </a:gridCol>
                <a:gridCol w="2868716">
                  <a:extLst>
                    <a:ext uri="{9D8B030D-6E8A-4147-A177-3AD203B41FA5}">
                      <a16:colId xmlns:a16="http://schemas.microsoft.com/office/drawing/2014/main" val="4268861290"/>
                    </a:ext>
                  </a:extLst>
                </a:gridCol>
              </a:tblGrid>
              <a:tr h="5307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Існуючі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рішення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Переваги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Недоліки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01832"/>
                  </a:ext>
                </a:extLst>
              </a:tr>
              <a:tr h="530793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Еталонна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реалізація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модульного ШІ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ворогів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FSM) 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бойових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механік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висока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швидкодія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без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мікрозатримок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Власний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рушій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C++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вимагає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колосальних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витрат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розробку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значно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ускладнює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портування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порівняно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05178"/>
                  </a:ext>
                </a:extLst>
              </a:tr>
              <a:tr h="530793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Rain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Чудова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масштабованість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архітектури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Unity,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здатність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обробляти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сотні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об'єктів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через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патерн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Використання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базових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колекцій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генерує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«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сміття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 в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купі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що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викликає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мікрофризи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через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Garbage Collector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490587"/>
                  </a:ext>
                </a:extLst>
              </a:tr>
              <a:tr h="530793">
                <a:tc>
                  <a:txBody>
                    <a:bodyPr/>
                    <a:lstStyle/>
                    <a:p>
                      <a:pPr algn="just"/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Legend of Zelda: Breath of the Wild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Фізично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коректний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контролер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гравця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адаптація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до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схилів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та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глибокі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ієрархічні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скінченні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Закритий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пропрієтарний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рушій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низькорівневі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алгоритми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пам'яті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недоступні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для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прямої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імплементації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64900"/>
                  </a:ext>
                </a:extLst>
              </a:tr>
              <a:tr h="530793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Genshin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Гнучка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модульна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система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магічних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здібностей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ідеальне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перевикористання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об'єктів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пулінг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візуальних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ефектів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Висока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зв'язність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коду (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Coupling);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тимчасові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алокації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пам'яті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під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час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масових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боїв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перевантажують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пристрій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116554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055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необхідності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високоефективної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мікрозависань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фризів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через роботу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Collector.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кастомного менеджменту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зв'язаність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призводять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критичного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падіння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продуктивності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бойових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сцен.</a:t>
            </a:r>
          </a:p>
          <a:p>
            <a:pPr marL="114300" indent="0" algn="just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Garbage-Free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ядра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PoolManager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ієрархічних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станів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ШІ.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дозволить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частоту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повністю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нівелювати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купі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циклу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персонажа 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процедурним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рельєфом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2E7796-8502-3EAE-3130-A6AA98D24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0050" y="1579170"/>
            <a:ext cx="6451599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Рушій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Unity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мова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програмування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C#)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Конвеєр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рендерингу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Universal Render Pipeline (URP)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Архітектурний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підхід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Компонентно-орієнтований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SOLID, MVC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Garbage-Free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(Object Pool)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контролю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версій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 (GitHub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DFC455CF-3476-3E86-505E-F2195D5E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756" y="1257387"/>
            <a:ext cx="3535700" cy="30256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98D702-60A8-11D7-8E6B-323CD5B3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08" y="1257387"/>
            <a:ext cx="5306493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GameManager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Центральне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ядро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керує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станами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всієї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ігрової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сесії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PoolManager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інфраструктурний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містить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перевикористання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виклику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Збирача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сміття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PlayerController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Фізика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гравця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обробляє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рух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стрибки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випускає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промені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Raycast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стабілізації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рельєфі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EnemyStateMachine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абстрактний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EnemyState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Штучний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реалізують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логіку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скінченного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гнучкого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перемикання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ворогів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GenerateEnvironmental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Генерація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відповідає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чанків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ландшафту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спавн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оточення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MagicFormSelector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DayNightCycleController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ScreenSpaceOutlineFeature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допоміжні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відповідають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вибір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магії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дня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нічі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рендеринг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контурів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6F246-2512-2093-D70E-1C6AAC2D7494}"/>
              </a:ext>
            </a:extLst>
          </p:cNvPr>
          <p:cNvSpPr txBox="1"/>
          <p:nvPr/>
        </p:nvSpPr>
        <p:spPr>
          <a:xfrm>
            <a:off x="399667" y="1413836"/>
            <a:ext cx="8520599" cy="23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Мова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програмування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NET).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об'єктно-орієнтованої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логіки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прямий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структурами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Ігровий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рушій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3D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потужний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інструментарій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розрахунку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Rigidbody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Raycast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сценами.</a:t>
            </a:r>
          </a:p>
          <a:p>
            <a:pPr algn="just">
              <a:lnSpc>
                <a:spcPct val="150000"/>
              </a:lnSpc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Графічний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конвеєр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Render Pipeline (URP)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рендерингу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Low-poly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графіки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силуети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ворогів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Допоміжний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інструментарій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E576D-D804-6B13-5518-DAF3A25C005E}"/>
              </a:ext>
            </a:extLst>
          </p:cNvPr>
          <p:cNvSpPr txBox="1"/>
          <p:nvPr/>
        </p:nvSpPr>
        <p:spPr>
          <a:xfrm>
            <a:off x="393475" y="752294"/>
            <a:ext cx="8594408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b="1" dirty="0" err="1"/>
              <a:t>Методи</a:t>
            </a:r>
            <a:r>
              <a:rPr lang="ru-RU" b="1" dirty="0"/>
              <a:t>:</a:t>
            </a:r>
            <a:r>
              <a:rPr lang="ru-RU" dirty="0"/>
              <a:t> компонентно-</a:t>
            </a:r>
            <a:r>
              <a:rPr lang="ru-RU" dirty="0" err="1"/>
              <a:t>орієнтована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, </a:t>
            </a:r>
            <a:r>
              <a:rPr lang="ru-RU" dirty="0" err="1"/>
              <a:t>патерни</a:t>
            </a:r>
            <a:r>
              <a:rPr lang="ru-RU" dirty="0"/>
              <a:t> </a:t>
            </a:r>
            <a:r>
              <a:rPr lang="en-US" dirty="0"/>
              <a:t>SOLID </a:t>
            </a:r>
            <a:r>
              <a:rPr lang="ru-RU" dirty="0"/>
              <a:t>та </a:t>
            </a:r>
            <a:r>
              <a:rPr lang="ru-RU" dirty="0" err="1"/>
              <a:t>адаптований</a:t>
            </a:r>
            <a:r>
              <a:rPr lang="ru-RU" dirty="0"/>
              <a:t> </a:t>
            </a:r>
            <a:r>
              <a:rPr lang="en-US" dirty="0"/>
              <a:t>MVC, Garbage-Free </a:t>
            </a:r>
            <a:r>
              <a:rPr lang="ru-RU" dirty="0" err="1"/>
              <a:t>оптимізація</a:t>
            </a:r>
            <a:r>
              <a:rPr lang="ru-RU" dirty="0"/>
              <a:t> (</a:t>
            </a:r>
            <a:r>
              <a:rPr lang="en-US" dirty="0"/>
              <a:t>Object Pool), </a:t>
            </a:r>
            <a:r>
              <a:rPr lang="ru-RU" dirty="0" err="1"/>
              <a:t>ієрархічний</a:t>
            </a:r>
            <a:r>
              <a:rPr lang="ru-RU" dirty="0"/>
              <a:t> </a:t>
            </a:r>
            <a:r>
              <a:rPr lang="ru-RU" dirty="0" err="1"/>
              <a:t>скінченний</a:t>
            </a:r>
            <a:r>
              <a:rPr lang="ru-RU" dirty="0"/>
              <a:t> автомат (</a:t>
            </a:r>
            <a:r>
              <a:rPr lang="en-US" dirty="0"/>
              <a:t>FSM), </a:t>
            </a:r>
            <a:r>
              <a:rPr lang="ru-RU" dirty="0" err="1"/>
              <a:t>просторове</a:t>
            </a:r>
            <a:r>
              <a:rPr lang="ru-RU" dirty="0"/>
              <a:t> </a:t>
            </a:r>
            <a:r>
              <a:rPr lang="ru-RU" dirty="0" err="1"/>
              <a:t>трасування</a:t>
            </a:r>
            <a:r>
              <a:rPr lang="ru-RU" dirty="0"/>
              <a:t> </a:t>
            </a:r>
            <a:r>
              <a:rPr lang="ru-RU" dirty="0" err="1"/>
              <a:t>променів</a:t>
            </a:r>
            <a:r>
              <a:rPr lang="ru-RU" dirty="0"/>
              <a:t> (</a:t>
            </a:r>
            <a:r>
              <a:rPr lang="en-US" dirty="0" err="1"/>
              <a:t>Raycast</a:t>
            </a:r>
            <a:r>
              <a:rPr lang="en-US" dirty="0"/>
              <a:t>).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b="1" dirty="0" err="1"/>
              <a:t>Послідовність</a:t>
            </a:r>
            <a:r>
              <a:rPr lang="ru-RU" b="1" dirty="0"/>
              <a:t>:</a:t>
            </a:r>
            <a:endParaRPr lang="ru-RU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дизайн-документа (</a:t>
            </a:r>
            <a:r>
              <a:rPr lang="en-US" dirty="0"/>
              <a:t>GDD) </a:t>
            </a:r>
            <a:r>
              <a:rPr lang="ru-RU" dirty="0"/>
              <a:t>та </a:t>
            </a:r>
            <a:r>
              <a:rPr lang="en-US" dirty="0"/>
              <a:t>UML-</a:t>
            </a:r>
            <a:r>
              <a:rPr lang="ru-RU" dirty="0" err="1"/>
              <a:t>проєктування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ігрового</a:t>
            </a:r>
            <a:r>
              <a:rPr lang="ru-RU" dirty="0"/>
              <a:t> ядра (</a:t>
            </a:r>
            <a:r>
              <a:rPr lang="ru-RU" dirty="0" err="1"/>
              <a:t>діаграми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компонентів</a:t>
            </a:r>
            <a:r>
              <a:rPr lang="ru-RU" dirty="0"/>
              <a:t>, </a:t>
            </a:r>
            <a:r>
              <a:rPr lang="ru-RU" dirty="0" err="1"/>
              <a:t>прецедентів</a:t>
            </a:r>
            <a:r>
              <a:rPr lang="ru-RU" dirty="0"/>
              <a:t>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 err="1"/>
              <a:t>програмна</a:t>
            </a:r>
            <a:r>
              <a:rPr lang="ru-RU" dirty="0"/>
              <a:t> </a:t>
            </a:r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базових</a:t>
            </a:r>
            <a:r>
              <a:rPr lang="ru-RU" dirty="0"/>
              <a:t> </a:t>
            </a:r>
            <a:r>
              <a:rPr lang="ru-RU" dirty="0" err="1"/>
              <a:t>підсистем</a:t>
            </a:r>
            <a:r>
              <a:rPr lang="ru-RU" dirty="0"/>
              <a:t> мовою </a:t>
            </a:r>
            <a:r>
              <a:rPr lang="en-US" dirty="0"/>
              <a:t>C# (</a:t>
            </a:r>
            <a:r>
              <a:rPr lang="ru-RU" dirty="0"/>
              <a:t>менеджер </a:t>
            </a:r>
            <a:r>
              <a:rPr lang="ru-RU" dirty="0" err="1"/>
              <a:t>пулів</a:t>
            </a:r>
            <a:r>
              <a:rPr lang="ru-RU" dirty="0"/>
              <a:t>, </a:t>
            </a:r>
            <a:r>
              <a:rPr lang="ru-RU" dirty="0" err="1"/>
              <a:t>фізичний</a:t>
            </a:r>
            <a:r>
              <a:rPr lang="ru-RU" dirty="0"/>
              <a:t> контролер </a:t>
            </a:r>
            <a:r>
              <a:rPr lang="ru-RU" dirty="0" err="1"/>
              <a:t>гравця</a:t>
            </a:r>
            <a:r>
              <a:rPr lang="ru-RU" dirty="0"/>
              <a:t>, </a:t>
            </a:r>
            <a:r>
              <a:rPr lang="ru-RU" dirty="0" err="1"/>
              <a:t>модульний</a:t>
            </a:r>
            <a:r>
              <a:rPr lang="ru-RU" dirty="0"/>
              <a:t> ШІ </a:t>
            </a:r>
            <a:r>
              <a:rPr lang="ru-RU" dirty="0" err="1"/>
              <a:t>ворогів</a:t>
            </a:r>
            <a:r>
              <a:rPr lang="ru-RU" dirty="0"/>
              <a:t>);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 err="1"/>
              <a:t>інтеграція</a:t>
            </a:r>
            <a:r>
              <a:rPr lang="ru-RU" dirty="0"/>
              <a:t> </a:t>
            </a:r>
            <a:r>
              <a:rPr lang="ru-RU" dirty="0" err="1"/>
              <a:t>модулів</a:t>
            </a:r>
            <a:r>
              <a:rPr lang="ru-RU" dirty="0"/>
              <a:t> у </a:t>
            </a:r>
            <a:r>
              <a:rPr lang="ru-RU" dirty="0" err="1"/>
              <a:t>рушій</a:t>
            </a:r>
            <a:r>
              <a:rPr lang="ru-RU" dirty="0"/>
              <a:t> та </a:t>
            </a:r>
            <a:r>
              <a:rPr lang="ru-RU" dirty="0" err="1"/>
              <a:t>низькорівневе</a:t>
            </a:r>
            <a:r>
              <a:rPr lang="ru-RU" dirty="0"/>
              <a:t> </a:t>
            </a:r>
            <a:r>
              <a:rPr lang="ru-RU" dirty="0" err="1"/>
              <a:t>профілювання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 для </a:t>
            </a:r>
            <a:r>
              <a:rPr lang="ru-RU" dirty="0" err="1"/>
              <a:t>підтвердження</a:t>
            </a:r>
            <a:r>
              <a:rPr lang="ru-RU" dirty="0"/>
              <a:t> </a:t>
            </a:r>
            <a:r>
              <a:rPr lang="ru-RU" dirty="0" err="1"/>
              <a:t>відсутності</a:t>
            </a:r>
            <a:r>
              <a:rPr lang="ru-RU" dirty="0"/>
              <a:t> </a:t>
            </a:r>
            <a:r>
              <a:rPr lang="ru-RU" dirty="0" err="1"/>
              <a:t>мікрофризів</a:t>
            </a:r>
            <a:r>
              <a:rPr lang="ru-RU" dirty="0"/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b="1" dirty="0" err="1"/>
              <a:t>Технології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en-US" dirty="0"/>
              <a:t>Unity (C#), Universal Render Pipeline (URP).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2A0FA8-23AF-3558-125E-E5D40ECFF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66" y="1461665"/>
            <a:ext cx="3886763" cy="83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4ED972-687F-B54C-E1F0-20F2611E50C4}"/>
              </a:ext>
            </a:extLst>
          </p:cNvPr>
          <p:cNvSpPr txBox="1"/>
          <p:nvPr/>
        </p:nvSpPr>
        <p:spPr>
          <a:xfrm>
            <a:off x="268925" y="645207"/>
            <a:ext cx="7834295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b="1" dirty="0"/>
              <a:t>Фрагмент коду (</a:t>
            </a:r>
            <a:r>
              <a:rPr lang="ru-RU" b="1" dirty="0" err="1"/>
              <a:t>Фізика</a:t>
            </a:r>
            <a:r>
              <a:rPr lang="ru-RU" b="1" dirty="0"/>
              <a:t> руху на </a:t>
            </a:r>
            <a:r>
              <a:rPr lang="ru-RU" b="1" dirty="0" err="1"/>
              <a:t>схилах</a:t>
            </a:r>
            <a:r>
              <a:rPr lang="ru-RU" b="1" dirty="0"/>
              <a:t>):</a:t>
            </a:r>
            <a:endParaRPr lang="ru-RU" dirty="0"/>
          </a:p>
          <a:p>
            <a:pPr algn="just">
              <a:lnSpc>
                <a:spcPct val="150000"/>
              </a:lnSpc>
              <a:buNone/>
            </a:pPr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адаптації</a:t>
            </a:r>
            <a:r>
              <a:rPr lang="ru-RU" dirty="0"/>
              <a:t> </a:t>
            </a:r>
            <a:r>
              <a:rPr lang="ru-RU" dirty="0" err="1"/>
              <a:t>швидкості</a:t>
            </a:r>
            <a:r>
              <a:rPr lang="ru-RU" dirty="0"/>
              <a:t> до </a:t>
            </a:r>
            <a:r>
              <a:rPr lang="ru-RU" dirty="0" err="1"/>
              <a:t>рельєфу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трасування</a:t>
            </a:r>
            <a:r>
              <a:rPr lang="ru-RU" dirty="0"/>
              <a:t> </a:t>
            </a:r>
            <a:r>
              <a:rPr lang="ru-RU" dirty="0" err="1"/>
              <a:t>променів</a:t>
            </a:r>
            <a:r>
              <a:rPr lang="ru-RU" dirty="0"/>
              <a:t> (</a:t>
            </a:r>
            <a:r>
              <a:rPr lang="en-US" dirty="0" err="1">
                <a:latin typeface="Courier New" panose="02070309020205020404" pitchFamily="49" charset="0"/>
              </a:rPr>
              <a:t>Raycast</a:t>
            </a:r>
            <a:r>
              <a:rPr lang="en-US" dirty="0"/>
              <a:t>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80BF2F-2BBC-CD55-A35E-0ECFB4D7D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174" y="2055704"/>
            <a:ext cx="4517901" cy="2495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10CD76-9574-3607-C1DC-DA014F276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663" y="703663"/>
            <a:ext cx="2568625" cy="35971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CC1966-B21C-6D3F-AF3C-72A87F346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25" y="1037967"/>
            <a:ext cx="4370577" cy="28352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5CF58AA-A046-C396-53F2-068E133AF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8058" y="932839"/>
            <a:ext cx="8454242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Успішно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спроєктовано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низькозв'язану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архітектуру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ігрового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клієнта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базі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рушія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Unity з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дотриманням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принципів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SOLID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патернів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MVC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і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FSM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Реалізовано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Garbage-Free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ядро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що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повністю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усунуло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мікрофризи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від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роботи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Збирача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сміття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забезпечило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стабільну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частоту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Розроблено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високоефективні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програмні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модулі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систему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пулінгу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об'єктів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(O(1)),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фізично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стабільний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контролер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переміщення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масштабований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ШІ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ворогів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Доведено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архітектурну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ефективність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прийнятих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рішень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шляхом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низькорівневого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профілювання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що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підтвердило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нульове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виділення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пам’яті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основному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ігровому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циклі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Створено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надійний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інженерний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фундамент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готовий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масштабування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комерційного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релізу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проєкту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 Steam.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2FB0ABC4A40474DAEDD018E27282615" ma:contentTypeVersion="5" ma:contentTypeDescription="Створення нового документа." ma:contentTypeScope="" ma:versionID="2586cd0a2c93fb14b0a71ad85355db52">
  <xsd:schema xmlns:xsd="http://www.w3.org/2001/XMLSchema" xmlns:xs="http://www.w3.org/2001/XMLSchema" xmlns:p="http://schemas.microsoft.com/office/2006/metadata/properties" xmlns:ns3="00dfac9f-f95b-43d1-9bcd-ac09eb79850d" targetNamespace="http://schemas.microsoft.com/office/2006/metadata/properties" ma:root="true" ma:fieldsID="e88fa77cbbfe468f717b2479f218f92a" ns3:_="">
    <xsd:import namespace="00dfac9f-f95b-43d1-9bcd-ac09eb7985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fac9f-f95b-43d1-9bcd-ac09eb7985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FFA87-31C6-47F5-BCF7-6FAE1889DD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dfac9f-f95b-43d1-9bcd-ac09eb7985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A9AF2E-B236-4C06-969E-9ABC55F93B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F9585-2765-4131-9269-F0C6D4F26765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00dfac9f-f95b-43d1-9bcd-ac09eb79850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379</TotalTime>
  <Words>875</Words>
  <Application>Microsoft Office PowerPoint</Application>
  <PresentationFormat>Екран (16:9)</PresentationFormat>
  <Paragraphs>74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8" baseType="lpstr">
      <vt:lpstr>Times New Roman</vt:lpstr>
      <vt:lpstr>Courier New</vt:lpstr>
      <vt:lpstr>Open Sans</vt:lpstr>
      <vt:lpstr>Economica</vt:lpstr>
      <vt:lpstr>Google Sans Text</vt:lpstr>
      <vt:lpstr>Arial</vt:lpstr>
      <vt:lpstr>Шаблон презентації кваліфікаційної роботи магістрів</vt:lpstr>
      <vt:lpstr>Ігрове програмне забезпечення в жанрі Roguelike на рушії Unity 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Данило Ходус</dc:creator>
  <cp:lastModifiedBy>Данило Ходус</cp:lastModifiedBy>
  <cp:revision>2</cp:revision>
  <dcterms:created xsi:type="dcterms:W3CDTF">2026-05-25T10:26:35Z</dcterms:created>
  <dcterms:modified xsi:type="dcterms:W3CDTF">2026-05-29T10:39:46Z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0x010100B2FB0ABC4A40474DAEDD018E27282615</vt:lpwstr>
  </property>
</Properties>
</file>